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4ab2dc7b574974" /><Relationship Type="http://schemas.openxmlformats.org/officeDocument/2006/relationships/extended-properties" Target="/docProps/app.xml" Id="Ra678edc6aa874851" /><Relationship Type="http://schemas.openxmlformats.org/officeDocument/2006/relationships/officeDocument" Target="/ppt/presentation.xml" Id="R975d8919fedb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677906b6346b5"/>
  </p:sldMasterIdLst>
  <p:notesMasterIdLst>
    <p:notesMasterId xmlns:r="http://schemas.openxmlformats.org/officeDocument/2006/relationships" r:id="R40fab2c3320b46a3"/>
  </p:notesMasterIdLst>
  <p:sldIdLst>
    <p:sldId xmlns:r="http://schemas.openxmlformats.org/officeDocument/2006/relationships" id="256" r:id="Rc264ee63d2e14371"/>
    <p:sldId xmlns:r="http://schemas.openxmlformats.org/officeDocument/2006/relationships" id="257" r:id="R6878bb94c6384279"/>
    <p:sldId xmlns:r="http://schemas.openxmlformats.org/officeDocument/2006/relationships" id="258" r:id="R22143a0b50c94512"/>
    <p:sldId xmlns:r="http://schemas.openxmlformats.org/officeDocument/2006/relationships" id="259" r:id="R3d7f8efed6b14d2c"/>
    <p:sldId xmlns:r="http://schemas.openxmlformats.org/officeDocument/2006/relationships" id="260" r:id="Rd6201c94c07343ae"/>
    <p:sldId xmlns:r="http://schemas.openxmlformats.org/officeDocument/2006/relationships" id="261" r:id="Re0149a9aa60f4b69"/>
    <p:sldId xmlns:r="http://schemas.openxmlformats.org/officeDocument/2006/relationships" id="262" r:id="R016c9269515744e3"/>
    <p:sldId xmlns:r="http://schemas.openxmlformats.org/officeDocument/2006/relationships" id="263" r:id="R4f882269984f4583"/>
    <p:sldId xmlns:r="http://schemas.openxmlformats.org/officeDocument/2006/relationships" id="264" r:id="Rff05bd631586418b"/>
    <p:sldId xmlns:r="http://schemas.openxmlformats.org/officeDocument/2006/relationships" id="265" r:id="R3246ad5e054a48e7"/>
    <p:sldId xmlns:r="http://schemas.openxmlformats.org/officeDocument/2006/relationships" id="266" r:id="Rd30bf804c43f4d19"/>
    <p:sldId xmlns:r="http://schemas.openxmlformats.org/officeDocument/2006/relationships" id="267" r:id="Ra596f3dd8bb341b4"/>
    <p:sldId xmlns:r="http://schemas.openxmlformats.org/officeDocument/2006/relationships" id="268" r:id="R167e5af7168d4bbe"/>
    <p:sldId xmlns:r="http://schemas.openxmlformats.org/officeDocument/2006/relationships" id="269" r:id="Rb60b42f500694b2a"/>
    <p:sldId xmlns:r="http://schemas.openxmlformats.org/officeDocument/2006/relationships" id="270" r:id="R8c352546e0504a4c"/>
    <p:sldId xmlns:r="http://schemas.openxmlformats.org/officeDocument/2006/relationships" id="271" r:id="R576c56af8aaf4ab5"/>
    <p:sldId xmlns:r="http://schemas.openxmlformats.org/officeDocument/2006/relationships" id="272" r:id="R0f04bfc384e5400b"/>
    <p:sldId xmlns:r="http://schemas.openxmlformats.org/officeDocument/2006/relationships" id="273" r:id="R5083f520db2b4f63"/>
    <p:sldId xmlns:r="http://schemas.openxmlformats.org/officeDocument/2006/relationships" id="274" r:id="R1b3701f3bf334abd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fc0ca0ece2412e" /><Relationship Type="http://schemas.openxmlformats.org/officeDocument/2006/relationships/slideMaster" Target="/ppt/slideMasters/slideMaster1.xml" Id="Rca2677906b6346b5" /><Relationship Type="http://schemas.openxmlformats.org/officeDocument/2006/relationships/notesMaster" Target="/ppt/notesMasters/notesMaster1.xml" Id="R40fab2c3320b46a3" /><Relationship Type="http://schemas.openxmlformats.org/officeDocument/2006/relationships/presProps" Target="/ppt/presProps.xml" Id="R55e35f32d80b4a1d" /><Relationship Type="http://schemas.openxmlformats.org/officeDocument/2006/relationships/viewProps" Target="/ppt/viewProps.xml" Id="R02acf0118d7944d7" /><Relationship Type="http://schemas.openxmlformats.org/officeDocument/2006/relationships/tableStyles" Target="/ppt/tableStyles.xml" Id="Raa28d70556774ae8" /><Relationship Type="http://schemas.openxmlformats.org/officeDocument/2006/relationships/slide" Target="/ppt/slides/slide1.xml" Id="Rc264ee63d2e14371" /><Relationship Type="http://schemas.openxmlformats.org/officeDocument/2006/relationships/slide" Target="/ppt/slides/slide2.xml" Id="R6878bb94c6384279" /><Relationship Type="http://schemas.openxmlformats.org/officeDocument/2006/relationships/slide" Target="/ppt/slides/slide3.xml" Id="R22143a0b50c94512" /><Relationship Type="http://schemas.openxmlformats.org/officeDocument/2006/relationships/slide" Target="/ppt/slides/slide4.xml" Id="R3d7f8efed6b14d2c" /><Relationship Type="http://schemas.openxmlformats.org/officeDocument/2006/relationships/slide" Target="/ppt/slides/slide5.xml" Id="Rd6201c94c07343ae" /><Relationship Type="http://schemas.openxmlformats.org/officeDocument/2006/relationships/slide" Target="/ppt/slides/slide6.xml" Id="Re0149a9aa60f4b69" /><Relationship Type="http://schemas.openxmlformats.org/officeDocument/2006/relationships/slide" Target="/ppt/slides/slide7.xml" Id="R016c9269515744e3" /><Relationship Type="http://schemas.openxmlformats.org/officeDocument/2006/relationships/slide" Target="/ppt/slides/slide8.xml" Id="R4f882269984f4583" /><Relationship Type="http://schemas.openxmlformats.org/officeDocument/2006/relationships/slide" Target="/ppt/slides/slide9.xml" Id="Rff05bd631586418b" /><Relationship Type="http://schemas.openxmlformats.org/officeDocument/2006/relationships/slide" Target="/ppt/slides/slide10.xml" Id="R3246ad5e054a48e7" /><Relationship Type="http://schemas.openxmlformats.org/officeDocument/2006/relationships/slide" Target="/ppt/slides/slide11.xml" Id="Rd30bf804c43f4d19" /><Relationship Type="http://schemas.openxmlformats.org/officeDocument/2006/relationships/slide" Target="/ppt/slides/slide12.xml" Id="Ra596f3dd8bb341b4" /><Relationship Type="http://schemas.openxmlformats.org/officeDocument/2006/relationships/slide" Target="/ppt/slides/slide13.xml" Id="R167e5af7168d4bbe" /><Relationship Type="http://schemas.openxmlformats.org/officeDocument/2006/relationships/slide" Target="/ppt/slides/slide14.xml" Id="Rb60b42f500694b2a" /><Relationship Type="http://schemas.openxmlformats.org/officeDocument/2006/relationships/slide" Target="/ppt/slides/slide15.xml" Id="R8c352546e0504a4c" /><Relationship Type="http://schemas.openxmlformats.org/officeDocument/2006/relationships/slide" Target="/ppt/slides/slide16.xml" Id="R576c56af8aaf4ab5" /><Relationship Type="http://schemas.openxmlformats.org/officeDocument/2006/relationships/slide" Target="/ppt/slides/slide17.xml" Id="R0f04bfc384e5400b" /><Relationship Type="http://schemas.openxmlformats.org/officeDocument/2006/relationships/slide" Target="/ppt/slides/slide18.xml" Id="R5083f520db2b4f63" /><Relationship Type="http://schemas.openxmlformats.org/officeDocument/2006/relationships/slide" Target="/ppt/slides/slide19.xml" Id="R1b3701f3bf334a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7f96b4c554b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d65858bfe844bd" /><Relationship Type="http://schemas.openxmlformats.org/officeDocument/2006/relationships/notesMaster" Target="/ppt/notesMasters/notesMaster1.xml" Id="R123de2f920df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4355c54ee74c91" /><Relationship Type="http://schemas.openxmlformats.org/officeDocument/2006/relationships/notesMaster" Target="/ppt/notesMasters/notesMaster1.xml" Id="Re321d7c7a274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cf50f151649f2" /><Relationship Type="http://schemas.openxmlformats.org/officeDocument/2006/relationships/notesMaster" Target="/ppt/notesMasters/notesMaster1.xml" Id="Rf08b0cd6666943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414281d0814432" /><Relationship Type="http://schemas.openxmlformats.org/officeDocument/2006/relationships/notesMaster" Target="/ppt/notesMasters/notesMaster1.xml" Id="R752c4c328c5d4a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9c56274b02423a" /><Relationship Type="http://schemas.openxmlformats.org/officeDocument/2006/relationships/notesMaster" Target="/ppt/notesMasters/notesMaster1.xml" Id="R1a22872ac642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b3d78a51bf4f98" /><Relationship Type="http://schemas.openxmlformats.org/officeDocument/2006/relationships/notesMaster" Target="/ppt/notesMasters/notesMaster1.xml" Id="Rc5be3b06298c46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7428d280584c0f" /><Relationship Type="http://schemas.openxmlformats.org/officeDocument/2006/relationships/notesMaster" Target="/ppt/notesMasters/notesMaster1.xml" Id="R2b920a7160ec4c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289bceeab4a25" /><Relationship Type="http://schemas.openxmlformats.org/officeDocument/2006/relationships/notesMaster" Target="/ppt/notesMasters/notesMaster1.xml" Id="R2277b260ef774d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6680a3b62740df" /><Relationship Type="http://schemas.openxmlformats.org/officeDocument/2006/relationships/notesMaster" Target="/ppt/notesMasters/notesMaster1.xml" Id="R812d25fdecda47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755ec255ba484f" /><Relationship Type="http://schemas.openxmlformats.org/officeDocument/2006/relationships/notesMaster" Target="/ppt/notesMasters/notesMaster1.xml" Id="R79d592ef2ed94f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0911ac9216480c" /><Relationship Type="http://schemas.openxmlformats.org/officeDocument/2006/relationships/notesMaster" Target="/ppt/notesMasters/notesMaster1.xml" Id="R990c8a4e588f43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cbd5fe89b24fb3" /><Relationship Type="http://schemas.openxmlformats.org/officeDocument/2006/relationships/notesMaster" Target="/ppt/notesMasters/notesMaster1.xml" Id="R5e664a77a6d842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b0ca9c8c524099" /><Relationship Type="http://schemas.openxmlformats.org/officeDocument/2006/relationships/notesMaster" Target="/ppt/notesMasters/notesMaster1.xml" Id="R2694e39b8f7b45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17cda972de412a" /><Relationship Type="http://schemas.openxmlformats.org/officeDocument/2006/relationships/notesMaster" Target="/ppt/notesMasters/notesMaster1.xml" Id="Reddd710a3de842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9eb3718c4e40eb" /><Relationship Type="http://schemas.openxmlformats.org/officeDocument/2006/relationships/notesMaster" Target="/ppt/notesMasters/notesMaster1.xml" Id="Re0c6d18ef37f42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6fb35e138a46fc" /><Relationship Type="http://schemas.openxmlformats.org/officeDocument/2006/relationships/notesMaster" Target="/ppt/notesMasters/notesMaster1.xml" Id="Rfd44fb3a9ed144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1dea3509f64c98" /><Relationship Type="http://schemas.openxmlformats.org/officeDocument/2006/relationships/notesMaster" Target="/ppt/notesMasters/notesMaster1.xml" Id="R6b573f94273747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23e96077fd44de" /><Relationship Type="http://schemas.openxmlformats.org/officeDocument/2006/relationships/notesMaster" Target="/ppt/notesMasters/notesMaster1.xml" Id="R32d0d43968474f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9c27a6c1a446c3" /><Relationship Type="http://schemas.openxmlformats.org/officeDocument/2006/relationships/notesMaster" Target="/ppt/notesMasters/notesMaster1.xml" Id="R9a4e2be0f17a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2026-10-14 Meeting。初步腳本與人工診斷的進度，未來朝單一腳本訓練與依結果處置發展。保留本週論文研讀簡報的實驗室封面及母片。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來源：使用者本次研究構想。全自動調整策略仍為未來目標，現有流程包含人工判讀。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來源：docs/guides/training-plan-v1.md；docs/records/from-scratch-training-decision-2026-10-14.md。六階段沿用同一 agent，未來从頭訓練从第一階段使用正式空間循跡環境。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來源：docs/guides/curriculum.md；docs/guides/recovery-training.md。沒有自動調參、回滾或週期獨立評估。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來源：新增資料夾/reward_history.png。Episodes1–37100，277 attempts with data，Latest average2498.15，圖產生時間2026-10-14 09:40:33。圖上的進度屬日誌觀察值，不核實最後checkpoint或活動狀態。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來源：diagnostic_packages/stage6_review/main/curriculum_state.json；新增資料夾/reward_history.png。各階段界線為繼承歷史，沿途環境版本不同，不是目前正式環境從頭訓練的結果。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來源：docs/research/lab-regression-2026-10-10.md。10600是當時三候選中的恢復起點，不是全歷史最佳。固定任務、seed101、CPU純sim，不代表泛化能力。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來源：docs/guides/run-lineage-proposal.md。紫線位於N與N+1之間。同一10600可能有零新增回合中間分支，曲線上的線會重合。父run只取到所接續checkpoint。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來源：configs/recovery_actor_half.json；docs/research/lab-regression-2026-10-10.md。11000在被捨棄恢復分支，沒有接入最終曲線的有效來源路線，不應在圖中捏造可見區段。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來源：docs/guides/startup-path-fix.md；AGENTS提供實驗室完整配對評估。10600原版與修正版轉彎皆1578步，10700由原133步轉為1589步。单seed，環境不同，不能將全部差異歸為agent學習。來源LR2.5e-5，scale1。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來源：configs/recovery_11600_overnight.json；diagnostic_packages/stage6_review/main/curriculum_state.json；AGENTS實驗室回報21600 recovery_budget暫停。曲線11600後紅線經12400、17400階段分界。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來源：docs/research/stage5-trace-findings-2026-10-11.md；docs/research/endpoint-lookahead-candidate.md。205/207失敗，地速16.3–16.4m/s，d達50m。未證實唯一根因。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來源：docs/guides/endpoint-v2-training.md；curriculum_state.json；新reward_history.png。部署前43組不代表Stage6已驗證，另原版新情境20/20，兩組勿混加。Stage6後下降也伴隨換stage，不能歸因為修正造成退步。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來源：docs/records/stage6-history-review-2026-10-13.md；docs/records/stage6-progress-validation-2026-10-13.md。使用者明確選擇空間循跡語義，變更環境，不宣稱僅修顯示。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records/stage6-progress-validation-2026-10-13.md；新增資料夾/reward_history.png。約2000/2600為視覺讀值非精確區間平均。配對sim固定checkpoint權重，環境修正也影響reward誤差幾何，跳升不全屬agent學習。新20個seed未參與候選調整，但內部turbulence seeds沿模型。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來源：docs/records/stage6-progress-validation-2026-10-13.md；docs/records/from-scratch-training-decision-2026-10-14.md。Stage4本次未单獨重測，前三stage单seed，有限抽樣不是完整合格。37100為圖上的log進度，未查最新checkpoint。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使用者本次研究構想，尚未實作全自動調參、回滾或週期評估。不能暗示目前腳本會自行修改模型或環境。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使用者未來研究構想；docs/records/from-scratch-training-decision-2026-10-14.md。沿用目前方案合格後再整理純腳本從頭重跑，尚未執行新演算法比較。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離線展示：完整docs保持與PPT同層。開啟流程與原文，再看系統架構。程式原文快照已內嵌，另開外部repo檔案入口不屬docs離線包。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8ad7d639f49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a1a21b8d342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1ac82cb5942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105d7000c4d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6b15a87a14a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efa947b2648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11eb9b1054b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4cca0960d448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47a75f71d487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5b664eff6451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ea9200e234b8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03b7feb004073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5E78E70F-3EA5-4B9B-980F-A737BB2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8033DF17-3775-4234-8FC9-DE54360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8">
            <a:extLst xmlns:a="http://schemas.openxmlformats.org/drawingml/2006/main">
              <a:ext uri="{FF2B5EF4-FFF2-40B4-BE49-F238E27FC236}">
                <a16:creationId xmlns:a16="http://schemas.microsoft.com/office/drawing/2014/main" id="{26A33FAD-54E1-48E1-A9C7-C1FA5CF1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138" y="6165850"/>
            <a:ext cx="2879725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tx1"/>
                </a:solidFill>
              </a:rPr>
              <a:t>@Ying-Chih Lai, FCU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5A3761E-A687-42F8-8585-230544CF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9138"/>
            <a:ext cx="7924800" cy="914400"/>
          </a:xfrm>
          <a:custGeom xmlns:a="http://schemas.openxmlformats.org/drawingml/2006/main"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8BB44025-8EDA-4D62-9BBD-2F8AE3C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6338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00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矩形 9">
            <a:extLst xmlns:a="http://schemas.openxmlformats.org/drawingml/2006/main">
              <a:ext uri="{FF2B5EF4-FFF2-40B4-BE49-F238E27FC236}">
                <a16:creationId xmlns:a16="http://schemas.microsoft.com/office/drawing/2014/main" id="{F96AC55E-67B0-49E9-BE0A-02014F32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" y="0"/>
            <a:ext cx="9036050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矩形 12">
            <a:extLst xmlns:a="http://schemas.openxmlformats.org/drawingml/2006/main">
              <a:ext uri="{FF2B5EF4-FFF2-40B4-BE49-F238E27FC236}">
                <a16:creationId xmlns:a16="http://schemas.microsoft.com/office/drawing/2014/main" id="{DE30DAD9-6FB6-4978-82CB-42DA6542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" y="5732463"/>
            <a:ext cx="9037638" cy="1054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51C7935-AF9E-47D2-9A8D-52B7F8D8142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000"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D4918759-E422-43DA-B76F-E3802913E0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4581128"/>
            <a:ext cx="6400800" cy="151216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 b="0" baseline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0BB7581-33DB-4BDE-8771-658C5514BFF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pPr>
              <a:buNone/>
            </a:pPr>
            <a:fld id="{4BC3029A-9587-46C6-8A65-BCB71D54A91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78726281-4351-4AC9-97A5-70D67FD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41D00B49-150C-42E9-A2D4-645721E0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矩形 8">
            <a:extLst xmlns:a="http://schemas.openxmlformats.org/drawingml/2006/main">
              <a:ext uri="{FF2B5EF4-FFF2-40B4-BE49-F238E27FC236}">
                <a16:creationId xmlns:a16="http://schemas.microsoft.com/office/drawing/2014/main" id="{3CEE7C6C-F8B8-425F-9FCE-1F0C097A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138" y="6165850"/>
            <a:ext cx="2879725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tx1"/>
                </a:solidFill>
              </a:rPr>
              <a:t>@Ying-Chih Lai, FCU</a:t>
            </a:r>
          </a:p>
        </p:txBody>
      </p:sp>
      <p:sp>
        <p:nvSpPr>
          <p:cNvPr id="7" name="Line 8">
            <a:extLst xmlns:a="http://schemas.openxmlformats.org/drawingml/2006/main">
              <a:ext uri="{FF2B5EF4-FFF2-40B4-BE49-F238E27FC236}">
                <a16:creationId xmlns:a16="http://schemas.microsoft.com/office/drawing/2014/main" id="{7DBD9E9D-186B-4668-8774-5296ACCD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3" y="3716338"/>
            <a:ext cx="7775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00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8" name="矩形 9">
            <a:extLst xmlns:a="http://schemas.openxmlformats.org/drawingml/2006/main">
              <a:ext uri="{FF2B5EF4-FFF2-40B4-BE49-F238E27FC236}">
                <a16:creationId xmlns:a16="http://schemas.microsoft.com/office/drawing/2014/main" id="{F3645588-BB5C-41E0-9765-9B29AAB7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" y="0"/>
            <a:ext cx="9036050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矩形 12">
            <a:extLst xmlns:a="http://schemas.openxmlformats.org/drawingml/2006/main">
              <a:ext uri="{FF2B5EF4-FFF2-40B4-BE49-F238E27FC236}">
                <a16:creationId xmlns:a16="http://schemas.microsoft.com/office/drawing/2014/main" id="{474362D5-47CF-4076-978F-DF11C6A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" y="5732463"/>
            <a:ext cx="9037638" cy="1054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矩形 4">
            <a:extLst xmlns:a="http://schemas.openxmlformats.org/drawingml/2006/main">
              <a:ext uri="{FF2B5EF4-FFF2-40B4-BE49-F238E27FC236}">
                <a16:creationId xmlns:a16="http://schemas.microsoft.com/office/drawing/2014/main" id="{CFDBFAC8-50DF-4846-B4D5-AA77F077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9950"/>
            <a:ext cx="9144000" cy="908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7EA936D-F1BA-4A78-867E-06AF779E468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A24A983E-93B3-4329-84E6-88E813197E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89040"/>
            <a:ext cx="6400800" cy="151216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2400" b="0" baseline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569812C-FF1A-40C3-A152-671F72B2D66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pPr>
              <a:buNone/>
            </a:pPr>
            <a:fld id="{4CA9BE5E-0DF2-4BFC-BF9B-D08487C2466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FFF6B6FE-3DB4-4744-9AC6-F62C341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9C6C5FDD-6134-4CE8-8B40-B7BF4CE7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981075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0DFC748-54E0-4F10-8B17-5EA1758D8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00FF"/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294AA86-8015-488C-9FB9-D7C833CE82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9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3AD17000-74F3-4E4B-A2FD-2EDC3173FE1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>
              <a:buNone/>
            </a:pPr>
            <a:fld id="{957E2F6D-551E-45E1-BD26-3DE68ACBA5D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0A535272-FD55-4381-B047-9DAC9AB6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93C20AFF-0F06-431A-835E-BD2FAF6D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F94FA25-9001-4C55-A7F3-80FEFE110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FEC2699-7897-4381-958B-B39F19EEF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8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4DAB3429-8DF5-4513-9C04-21B1632D050D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EE6B64A0-F07E-4D13-A5B9-6EF9ADFB053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7">
            <a:extLst xmlns:a="http://schemas.openxmlformats.org/drawingml/2006/main">
              <a:ext uri="{FF2B5EF4-FFF2-40B4-BE49-F238E27FC236}">
                <a16:creationId xmlns:a16="http://schemas.microsoft.com/office/drawing/2014/main" id="{CAD354B4-4E00-4DAB-BF8F-29CD2E96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6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7A354A3D-CBCA-48E9-AD4F-A073C933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F50A268-0C91-4502-8A1A-EB95FC0D1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76C3ADE-C174-4CF1-8837-DA4541E1E0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65C450F-241B-44B4-B605-EAF022138C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9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685CE19-3EB4-42F3-AD6B-8379CFE2456B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2711453F-1375-4479-9741-C84F9FA6408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4540DDC-5CDA-489E-8D3B-B5910D5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8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761729B1-833A-4B1A-ACED-CE5E41C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7EB5C0A-6A83-420A-BE29-14779625A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24241FC-BDCE-4A97-9740-CC559DA28D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492A3EFF-761A-423A-A52A-08748A37EA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A2C4054E-A57A-4B13-9FE7-8D0F635B221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F9CA4CE7-9241-4754-9CC5-0764898FB7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11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766F7270-AE77-4545-A5A7-6B3279AD209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4B858F2-AA24-4166-95E9-AF41A8CCFB6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7">
            <a:extLst xmlns:a="http://schemas.openxmlformats.org/drawingml/2006/main">
              <a:ext uri="{FF2B5EF4-FFF2-40B4-BE49-F238E27FC236}">
                <a16:creationId xmlns:a16="http://schemas.microsoft.com/office/drawing/2014/main" id="{E624961F-D7A8-4BAF-9E6F-BA8B771A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4E5281BD-95DA-4A6D-BE7A-1ED3910C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AF21093-B319-4515-A838-05757A396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7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B57CE383-B342-4D92-9390-1FD3DF89C305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D4409B0-0196-4C98-970C-467DF9D9D01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7">
            <a:extLst xmlns:a="http://schemas.openxmlformats.org/drawingml/2006/main">
              <a:ext uri="{FF2B5EF4-FFF2-40B4-BE49-F238E27FC236}">
                <a16:creationId xmlns:a16="http://schemas.microsoft.com/office/drawing/2014/main" id="{2F63C49A-333B-479C-8A81-5FEF2A65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D70A7C48-E636-42D2-8B91-A5B0698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036AB327-58CA-4A51-88A3-5CA5D80707D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4C22E9E-0CD3-4EA8-8635-9192E5B56EE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7">
            <a:extLst xmlns:a="http://schemas.openxmlformats.org/drawingml/2006/main">
              <a:ext uri="{FF2B5EF4-FFF2-40B4-BE49-F238E27FC236}">
                <a16:creationId xmlns:a16="http://schemas.microsoft.com/office/drawing/2014/main" id="{4E521664-208D-42C7-B33D-5BF25B5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6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D46B065C-3B56-4DBE-9AE5-6ACAEE98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4762367-3B21-40E5-926E-AF4733B39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8C934B2A-82D8-4EEE-B587-BECEDF03AF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5183D18D-7761-4A67-A51C-9836FA1EB6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9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BDF11B41-F701-4BD1-8093-1A37ABFF13A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A2D0A3F-AD3C-4BB4-AEEB-0F72A81BFC2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7">
            <a:extLst xmlns:a="http://schemas.openxmlformats.org/drawingml/2006/main">
              <a:ext uri="{FF2B5EF4-FFF2-40B4-BE49-F238E27FC236}">
                <a16:creationId xmlns:a16="http://schemas.microsoft.com/office/drawing/2014/main" id="{9D668CE8-EEEB-461D-8DB9-75E8DE2C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6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7A248FD6-DD19-45E8-9D60-F2BFADC9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A683772-F8A8-440C-A650-A18FB236C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78359E93-80ED-433C-83B8-3F695874D7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ABE22EE1-FD71-45DA-961B-71C1762D6D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9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61C9CDD9-141D-4D89-8807-4C5C8D53EBA8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2D92643-95F5-441B-BE24-EDC36F09542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76219D1B-4C32-4A9C-A42E-F8B5F6CE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2B68F305-8504-478A-BE41-736657F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5593550-87F6-4859-81A2-9DEB5116B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9B5728C-0BFE-402C-93A4-83EB4EA968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8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A41C215-11D9-4871-83AA-AD2BE2831C53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9330DA9-EEA1-4856-84BB-AB6D529891A2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1A80C228-F64B-44BB-B55F-3722825C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8229600" cy="609600"/>
          </a:xfrm>
          <a:custGeom xmlns:a="http://schemas.openxmlformats.org/drawingml/2006/main"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000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直線接點 7">
            <a:extLst xmlns:a="http://schemas.openxmlformats.org/drawingml/2006/main">
              <a:ext uri="{FF2B5EF4-FFF2-40B4-BE49-F238E27FC236}">
                <a16:creationId xmlns:a16="http://schemas.microsoft.com/office/drawing/2014/main" id="{BCFE9F80-4DC9-4213-BE25-98F2E4B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13" y="6165850"/>
            <a:ext cx="82073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E633C490-9AA5-4E44-9ECC-2DD54F5FB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040D096-8CC9-4CD3-A29F-8896611695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8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A4C17550-554D-4BCC-A01E-8B2FA0DF77BB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F9E3A45-0BF8-469B-B107-0E1A9E41207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a73f138284134" /><Relationship Type="http://schemas.openxmlformats.org/officeDocument/2006/relationships/slideLayout" Target="/ppt/slideLayouts/slideLayout1.xml" Id="R9eb6d311cb804c4a" /><Relationship Type="http://schemas.openxmlformats.org/officeDocument/2006/relationships/slideLayout" Target="/ppt/slideLayouts/slideLayout2.xml" Id="R41649d7261df463e" /><Relationship Type="http://schemas.openxmlformats.org/officeDocument/2006/relationships/slideLayout" Target="/ppt/slideLayouts/slideLayout3.xml" Id="R021ec9e8a4a34a59" /><Relationship Type="http://schemas.openxmlformats.org/officeDocument/2006/relationships/slideLayout" Target="/ppt/slideLayouts/slideLayout4.xml" Id="Rf38ac5236250427c" /><Relationship Type="http://schemas.openxmlformats.org/officeDocument/2006/relationships/slideLayout" Target="/ppt/slideLayouts/slideLayout5.xml" Id="Rd82c67661f814981" /><Relationship Type="http://schemas.openxmlformats.org/officeDocument/2006/relationships/slideLayout" Target="/ppt/slideLayouts/slideLayout6.xml" Id="Rfc11cd4b4c3848f6" /><Relationship Type="http://schemas.openxmlformats.org/officeDocument/2006/relationships/slideLayout" Target="/ppt/slideLayouts/slideLayout7.xml" Id="Rfca65087c90243fa" /><Relationship Type="http://schemas.openxmlformats.org/officeDocument/2006/relationships/slideLayout" Target="/ppt/slideLayouts/slideLayout8.xml" Id="R790e25234710453c" /><Relationship Type="http://schemas.openxmlformats.org/officeDocument/2006/relationships/slideLayout" Target="/ppt/slideLayouts/slideLayout9.xml" Id="R89b244c179634f4d" /><Relationship Type="http://schemas.openxmlformats.org/officeDocument/2006/relationships/slideLayout" Target="/ppt/slideLayouts/slideLayout10.xml" Id="R4ca757bee6a94f13" /><Relationship Type="http://schemas.openxmlformats.org/officeDocument/2006/relationships/slideLayout" Target="/ppt/slideLayouts/slideLayout11.xml" Id="R3e2679872e564a25" /><Relationship Type="http://schemas.openxmlformats.org/officeDocument/2006/relationships/slideLayout" Target="/ppt/slideLayouts/slideLayout12.xml" Id="R3db59097c2bb4a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8EA44CB7-A321-494A-BE47-2E0867336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70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按一下以編輯母片標題樣式</a:t>
            </a:r>
          </a:p>
        </p:txBody>
      </p:sp>
      <p:sp>
        <p:nvSpPr>
          <p:cNvPr id="1027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F5191B7-4DFE-4174-B187-463307BB3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52513"/>
            <a:ext cx="8229600" cy="507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14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1535149-9F3B-4075-B621-E0FAACA853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1658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AE8AF0F6-4B98-4F43-8F8D-93724DB043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b6d311cb804c4a"/>
    <p:sldLayoutId xmlns:r="http://schemas.openxmlformats.org/officeDocument/2006/relationships" id="2147483650" r:id="R41649d7261df463e"/>
    <p:sldLayoutId xmlns:r="http://schemas.openxmlformats.org/officeDocument/2006/relationships" id="2147483651" r:id="R021ec9e8a4a34a59"/>
    <p:sldLayoutId xmlns:r="http://schemas.openxmlformats.org/officeDocument/2006/relationships" id="2147483652" r:id="Rf38ac5236250427c"/>
    <p:sldLayoutId xmlns:r="http://schemas.openxmlformats.org/officeDocument/2006/relationships" id="2147483653" r:id="Rd82c67661f814981"/>
    <p:sldLayoutId xmlns:r="http://schemas.openxmlformats.org/officeDocument/2006/relationships" id="2147483654" r:id="Rfc11cd4b4c3848f6"/>
    <p:sldLayoutId xmlns:r="http://schemas.openxmlformats.org/officeDocument/2006/relationships" id="2147483655" r:id="Rfca65087c90243fa"/>
    <p:sldLayoutId xmlns:r="http://schemas.openxmlformats.org/officeDocument/2006/relationships" id="2147483656" r:id="R790e25234710453c"/>
    <p:sldLayoutId xmlns:r="http://schemas.openxmlformats.org/officeDocument/2006/relationships" id="2147483657" r:id="R89b244c179634f4d"/>
    <p:sldLayoutId xmlns:r="http://schemas.openxmlformats.org/officeDocument/2006/relationships" id="2147483658" r:id="R4ca757bee6a94f13"/>
    <p:sldLayoutId xmlns:r="http://schemas.openxmlformats.org/officeDocument/2006/relationships" id="2147483659" r:id="R3e2679872e564a25"/>
    <p:sldLayoutId xmlns:r="http://schemas.openxmlformats.org/officeDocument/2006/relationships" id="2147483660" r:id="R3db59097c2bb4a8c"/>
  </p:sldLayoutIdLst>
  <p:hf hdr="0" ftr="0" dt="0"/>
  <p:txStyles>
    <p:titleStyle>
      <a:lvl1pPr xmlns:a="http://schemas.openxmlformats.org/drawingml/2006/main" algn="l">
        <a:spcBef>
          <a:spcPct val="0"/>
        </a:spcBef>
        <a:spcAft>
          <a:spcPct val="0"/>
        </a:spcAft>
        <a:buNone/>
        <a:defRPr sz="32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2pPr>
      <a:lvl3pPr xmlns:a="http://schemas.openxmlformats.org/drawingml/2006/main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3pPr>
      <a:lvl4pPr xmlns:a="http://schemas.openxmlformats.org/drawingml/2006/main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4pPr>
      <a:lvl5pPr xmlns:a="http://schemas.openxmlformats.org/drawingml/2006/main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軟正黑體"/>
          <a:ea typeface="微軟正黑體"/>
          <a:cs typeface="微軟正黑體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16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db530e60548df" /><Relationship Type="http://schemas.openxmlformats.org/officeDocument/2006/relationships/notesSlide" Target="/ppt/notesSlides/notesSlide1.xml" Id="R2ce4f2c047744f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6e6cabe444442f" /><Relationship Type="http://schemas.openxmlformats.org/officeDocument/2006/relationships/notesSlide" Target="/ppt/notesSlides/notesSlide2.xml" Id="R89e125f659c842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679ee3104e421b" /><Relationship Type="http://schemas.openxmlformats.org/officeDocument/2006/relationships/notesSlide" Target="/ppt/notesSlides/notesSlide3.xml" Id="Rf49f8da4020a4a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8fb7befedc4878" /><Relationship Type="http://schemas.openxmlformats.org/officeDocument/2006/relationships/notesSlide" Target="/ppt/notesSlides/notesSlide4.xml" Id="Rda9e6c1c010d4d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f3635d04e04d52" /><Relationship Type="http://schemas.openxmlformats.org/officeDocument/2006/relationships/image" Target="/ppt/media/image.png" Id="R88cd52f09e9b430a" /><Relationship Type="http://schemas.openxmlformats.org/officeDocument/2006/relationships/notesSlide" Target="/ppt/notesSlides/notesSlide5.xml" Id="Rf57d01958d4045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12c0a39af74dd5" /><Relationship Type="http://schemas.openxmlformats.org/officeDocument/2006/relationships/notesSlide" Target="/ppt/notesSlides/notesSlide6.xml" Id="R0f3c60c3c3de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2163a482a5400e" /><Relationship Type="http://schemas.openxmlformats.org/officeDocument/2006/relationships/notesSlide" Target="/ppt/notesSlides/notesSlide7.xml" Id="R0a8c93bf9d424b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be8ca99766405c" /><Relationship Type="http://schemas.openxmlformats.org/officeDocument/2006/relationships/notesSlide" Target="/ppt/notesSlides/notesSlide8.xml" Id="Rc1ad145f2f524d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ce420087994012" /><Relationship Type="http://schemas.openxmlformats.org/officeDocument/2006/relationships/notesSlide" Target="/ppt/notesSlides/notesSlide9.xml" Id="Rc288a2ceaa4948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c9320dcbd34aab" /><Relationship Type="http://schemas.openxmlformats.org/officeDocument/2006/relationships/notesSlide" Target="/ppt/notesSlides/notesSlide10.xml" Id="Rb3e59282fa8145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05c40de2904d81" /><Relationship Type="http://schemas.openxmlformats.org/officeDocument/2006/relationships/notesSlide" Target="/ppt/notesSlides/notesSlide11.xml" Id="Ra80cd131cdc642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6533a5226c46d0" /><Relationship Type="http://schemas.openxmlformats.org/officeDocument/2006/relationships/notesSlide" Target="/ppt/notesSlides/notesSlide12.xml" Id="Re89fc0f0ced047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c08951460c4d5d" /><Relationship Type="http://schemas.openxmlformats.org/officeDocument/2006/relationships/notesSlide" Target="/ppt/notesSlides/notesSlide13.xml" Id="R89dad269c6c740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e487c672354084" /><Relationship Type="http://schemas.openxmlformats.org/officeDocument/2006/relationships/notesSlide" Target="/ppt/notesSlides/notesSlide14.xml" Id="R414153c8966745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43dac8db88408d" /><Relationship Type="http://schemas.openxmlformats.org/officeDocument/2006/relationships/notesSlide" Target="/ppt/notesSlides/notesSlide15.xml" Id="R6f246531490f48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340cb43d1946e0" /><Relationship Type="http://schemas.openxmlformats.org/officeDocument/2006/relationships/notesSlide" Target="/ppt/notesSlides/notesSlide16.xml" Id="R5af5d0cb350846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a488fc9af74d74" /><Relationship Type="http://schemas.openxmlformats.org/officeDocument/2006/relationships/notesSlide" Target="/ppt/notesSlides/notesSlide17.xml" Id="R20873417e1c644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3732ef249a447c" /><Relationship Type="http://schemas.openxmlformats.org/officeDocument/2006/relationships/notesSlide" Target="/ppt/notesSlides/notesSlide18.xml" Id="R4dae0cd3957a4466" /></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df8b9317e9884ed4" /><ns0:Relationship Type="http://schemas.openxmlformats.org/officeDocument/2006/relationships/image" Target="/ppt/media/image2.png" Id="R12c5c4180bce4b48" /><ns0:Relationship Type="http://schemas.openxmlformats.org/officeDocument/2006/relationships/notesSlide" Target="/ppt/notesSlides/notesSlide19.xml" Id="Rce1436406ab74b4c" /><ns0:Relationship Id="rIdOffline4" Type="http://schemas.openxmlformats.org/officeDocument/2006/relationships/hyperlink" Target="docs/diagrams/training-explorer.html" TargetMode="External" /><ns0:Relationship Id="rIdOffline5" Type="http://schemas.openxmlformats.org/officeDocument/2006/relationships/hyperlink" Target="docs/architecture.html" TargetMode="External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676A5E5D-47E3-4714-81D1-B09ECF05C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200"/>
              </a:spcBef>
              <a:buNone/>
            </a:pPr>
            <a:r>
              <a:rPr sz="3100">
                <a:latin typeface="+mj-lt"/>
                <a:ea typeface="+mj-lt"/>
                <a:cs typeface="+mj-lt"/>
              </a:rPr>
              <a:t>Training Progress</a:t>
            </a:r>
            <a:br/>
            <a:r>
              <a:rPr sz="3100">
                <a:latin typeface="+mj-ea"/>
                <a:ea typeface="+mj-ea"/>
                <a:cs typeface="+mj-ea"/>
              </a:rPr>
              <a:t>模型訓練進度</a:t>
            </a:r>
          </a:p>
        </p:txBody>
      </p:sp>
      <p:sp>
        <p:nvSpPr>
          <p:cNvPr id="6" name="副標題 2">
            <a:extLst xmlns:a="http://schemas.openxmlformats.org/drawingml/2006/main">
              <a:ext uri="{FF2B5EF4-FFF2-40B4-BE49-F238E27FC236}">
                <a16:creationId xmlns:a16="http://schemas.microsoft.com/office/drawing/2014/main" id="{39E7D834-7B7D-428F-9FD6-66C79B423A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4581128"/>
            <a:ext cx="6400800" cy="15113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+mj-lt"/>
                <a:ea typeface="+mj-lt"/>
                <a:cs typeface="+mj-lt"/>
              </a:rPr>
              <a:t>Adviser: Prof. Ying-Chih Lai</a:t>
            </a:r>
          </a:p>
          <a:p xmlns:a="http://schemas.openxmlformats.org/drawingml/2006/main">
            <a:pPr>
              <a:buNone/>
            </a:pPr>
            <a:r>
              <a:rPr>
                <a:latin typeface="+mj-lt"/>
                <a:ea typeface="+mj-lt"/>
                <a:cs typeface="+mj-lt"/>
              </a:rPr>
              <a:t>Presenter:</a:t>
            </a:r>
            <a:r>
              <a:rPr>
                <a:latin typeface="標楷體"/>
                <a:ea typeface="標楷體"/>
                <a:cs typeface="標楷體"/>
              </a:rPr>
              <a:t>葉彥辰</a:t>
            </a:r>
            <a:endParaRPr>
              <a:latin typeface="標楷體"/>
              <a:ea typeface="標楷體"/>
              <a:cs typeface="標楷體"/>
            </a:endParaRPr>
          </a:p>
          <a:p xmlns:a="http://schemas.openxmlformats.org/drawingml/2006/main">
            <a:pPr>
              <a:buNone/>
            </a:pPr>
            <a:r>
              <a:rPr>
                <a:latin typeface="+mj-lt"/>
                <a:ea typeface="+mj-lt"/>
                <a:cs typeface="+mj-lt"/>
              </a:rPr>
              <a:t>Laboratory Meeting</a:t>
            </a:r>
            <a:endParaRPr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62326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Research Goal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2598689-54C9-18A7-3A19-ED76AA08988F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5F472-1192-45E8-A241-D278B3FD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長期目標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CBED0-DBB3-4F4F-BC04-67520847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以單一入口完成六階段訓練，並依目前訓練結果調整策略。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15B97-6008-4063-AD76-6F672BA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目前做法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4C819-0A70-490F-88B6-D226110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已建立初步腳本，持續監控與評估，必要時由人工調查及修改設定。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7AA62-589A-448D-A724-8547087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本週重點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9A76C-B808-4B26-812B-8EC1B6C4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釐清不同情境下的失敗條件，累積未來自動處置所需的證據。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Curriculum and Training Task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202359C0-8A7A-196E-DD58-8E6569619F09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CA03E-19A6-435F-BC1C-EC0C9EF6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7AD67-5AE7-481E-9080-94D5398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0017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直線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9070F-EDD1-4D97-AF08-F2D8F65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19300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48668-17B7-40BB-B12D-301C850C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1930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平緩 S 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F916D-A82A-44F3-A1D8-32379313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38425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2AB7B-74AD-4C18-A6F8-0211F2B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384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固定轉彎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0C8D7-68D7-4176-9472-A926A5B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57550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6DB9-B3A0-4234-BDDF-DCE624D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575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隨機路徑，無風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EB972-A82B-4B41-8482-EFE0E4E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76675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62A94-B020-478A-86AF-29372A0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7667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隨機路徑，小風擾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8FBAC-8467-4F15-8D32-DF0E846D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95800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75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6201E-39A4-473A-B020-442B613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9580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隨機路徑，完整風擾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02547-F12A-4210-87D7-E6A369E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95900"/>
            <a:ext cx="7886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025" b="0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同一 agent 逐步增加路線難度與風擾。</a:t>
            </a:r>
          </a:p>
          <a:p xmlns:a="http://schemas.openxmlformats.org/drawingml/2006/main">
            <a:pPr>
              <a:defRPr sz="2025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025" b="0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任務：沿指定路徑穩定飛行，依飛機進度更新路段。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Current Script Capabilities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FD6AB9A-5F9E-5F59-51AB-3C8734130965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463A8-DAF3-49CD-82DF-EB3C6FC4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訓練執行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764DB-CA1B-4FCC-9CAB-9F93A040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JSON 定義課程與過關條件，保存 checkpoint 並接續同一 agent。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89555-C150-4C0A-9103-5E33E85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監控與保護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C613D-959D-4CC7-AE36-6F47EDDB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記錄 reward、步數與 stage。疑似退步或預算用盡時，保存後暫停。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86456-1DAD-4A8D-86BE-CD7CD358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診斷與恢復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7EBCA-18EA-44AA-A4D7-6C4F06D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比較 checkpoint 與失敗情境，再由人工決定恢復分支及修改內容。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Training Reward History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E5B3003-2C54-13C6-9832-7637201064DE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fld>
            <a:endParaRPr/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0C849-5C21-4138-9C37-14A4CF1A7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d52f09e9b430a"/>
          <a:stretch xmlns:a="http://schemas.openxmlformats.org/drawingml/2006/main"/>
        </p:blipFill>
        <p:spPr>
          <a:xfrm xmlns:a="http://schemas.openxmlformats.org/drawingml/2006/main">
            <a:off x="498363" y="1219200"/>
            <a:ext cx="8147275" cy="46577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64FB1-0512-47C9-8048-087C263E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48350"/>
            <a:ext cx="788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1725" b="0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37,100 回合，Stage 6，最新平均 reward = 2,498.15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Stage History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8C630A04-5A25-9E0C-9436-126091DB86B3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68CA5-C910-4BD5-84EF-785056BD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6207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1  1–3000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7896A-9CB6-4F5C-8720-31D3AE57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0497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直線建立基本能力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0D948-6549-4E0C-800E-B8EC2DA3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0502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2  3001–6100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BE455-AB50-418E-8736-C901737A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4792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S 彎達課程條件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0F0D3-F4E6-4F8F-AED4-EC0BFD46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4797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3  6101–12400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2037F-A85C-48FC-852A-86A5BFA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9087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退步調查與恢復後過關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F5E99-C44A-4525-A1C9-7C440E05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4  12401–17400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44D24-6F3D-4D1D-8B09-2AB6D177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3382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隨機無風路徑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EE49F-388F-4533-9DAF-E8DA5FB6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5  17401–22400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9DF20-07CC-4EA2-88EC-17E0D8D5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小風擾揭露局部末點問題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A65B3-D5B1-4EA4-AFC9-6D55E642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7682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10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Stage 6  22401 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37E73-0675-408A-9985-465CE21A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19725"/>
            <a:ext cx="788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完整風擾與空間進度更新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4B756-8D6D-498A-9048-34B1729E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788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沿途階段完成紀錄仍需搭配各自的環境版本判讀。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Stage 3: Regression and Recovery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3D7D1C8-AE23-AA48-DF65-C742588DBE47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056BD-B251-4750-B6CA-73FCFB8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訓練中出現退步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FA27B-952B-4A9C-B44A-D34D8FD5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約 10700–10800 在同一 attempt 內下降，沒有與換 stage 或重啟邊界重合。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A9B4C-F01C-4933-B3A2-21CF9115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獨立評估確認能力下降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C3135-B13B-47E1-9C56-A2437B4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12600 的直線、S 彎與固定轉彎皆僅 138 步，10600 保留較佳能力。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0E22A-826B-4DA6-991D-D9DA0B8A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後續處理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4D5AF-585C-44F6-9DEE-A7E565C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保留原實驗，以 10600 建立恢復分支，再調查初始化與引導資訊問題。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Purple Lines: Run Forks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BA58DA2A-B818-18A9-29C1-B697728D5BCE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3EB95-FEEF-444B-8020-0D2B8246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紫線的意義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68891-A1B6-4070-A201-704BB39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由父 run 的 checkpoint 接續到新 run，保存來源與修改紀錄。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CA87B-3B7A-4DBF-AC67-C403574D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每次接續的差異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C864E-880B-4C1D-AE28-D379986F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可能修改學習率、訓練預算或環境邏輯。PPO 與 LSTM 架構持續沿用。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5EF46-7654-42DC-ADE9-15B09E1F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與其他分界的區別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67268-7126-409E-ADA4-089322F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橘線表示 stage 切換，灰線表示同 run 的 attempt 分界。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Fork at 10600: Learning Rate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388657AE-30A1-5A7A-6A7F-315D84436430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1C357-AA19-47E0-87CF-719C3A43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修改內容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709CE-879D-4D88-8623-3FB4522D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actor LR 減半至 2.5×10⁻⁵，每段 100 回合，新增 guard。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D429F-D93E-4147-ADDE-20C12F81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觀察到的影響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44464-B2C0-4E90-BFF0-B0AFA5E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第一個恢復分支仍在 11000 被 guard 暫停，單靠這個配方未阻止退步。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86366-62D4-42DE-8791-6D5E0847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判讀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0C7A5-CE41-4108-A871-56CFB656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學習率與段落設定同時改變，尚不能確認退步根因。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Fork at 10600: Startup Fix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B7BEEEC-A170-5376-2B6E-CB54687B0CB1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5A71D-DA3C-4006-8CF0-EC582D98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修改內容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D0D7F-4860-4691-87C6-EF2C00C1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首次呼叫即提供完整有效路段，避免起始約 10 秒缺少有效引導資訊。LR 不再減半。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82072-5F63-4EA0-8E4C-C71A927B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配對評估的影響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B6B73-3BAF-4B74-BF24-77CA956B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修正版 10700：直線與 S 彎均 3000 步，固定轉彎 1589 步，原版三項約 133–134 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CA998-E989-4F97-A37B-C3C98F5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訓練曲線的變化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5F573-4539-498B-871D-981A2152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接續後逐步提高並在 12400 通過 Stage 3，環境修正與後續學習都參與了變化。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Fork at 11600: Longer Training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30394428-F1DC-E5F6-DB0C-7DE31F3D8A23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5088C-589E-4BE3-BFBC-9A9B682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修改內容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8430D-7CD1-4A4B-9E15-29DB7E4C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保留 LR = 2.5×10⁻⁵ 與初始化修正，增加 10000 回合預算，最多訓練到 21600。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C9E06-C8ED-40B4-9F6B-56D66C5E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觀察到的影響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D107A-B50C-481E-BAC4-5844E24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後續通過 Stage 3、Stage 4，進入 Stage 5。21600 因訓練預算用盡暫停。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9AEAB-AAFF-485B-954F-EB3F55F1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判讀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F6B0C-4F82-4668-AB88-0ACAA2CD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這次接續提供更多訓練時間，沒有重新初始化模型，也沒有再次減半學習率。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Stage 5: Wind and Local Endpoints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4DB16885-0D3F-A391-B669-3211DB3B26E8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5C629-D9B3-4162-B65C-5F4777F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觀察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707B2-AA97-49C2-8EF3-8EF242D6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21600 配對評估：無風 10/10，有風 8/10 跑滿 3000 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99BF0-35CA-46C9-86FE-A05493A6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診斷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93894-0389-4F76-9F97-C1CCE1A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失敗前飛機越過局部路段末點，引導目標落到後方，路段更新後才跳回前方。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3CA66-EE47-42E2-B8EC-0B19141F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問題定位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EEF0D-5C68-4FF4-8F42-7459CA8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風影響地速與進度，無風也可能遇到局部路段不足，不能只歸因於抗風能力。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Fork at 21600: Endpoint Lookahead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2DD23107-4986-8758-3A93-3D74F35908CC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BEF91-980C-4321-9041-0A410AA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修改內容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07F2C-08FD-444E-979D-45F4FDF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正式部署末端引導第二版，在已驗證條件下沿末段切線延伸目標，LR 不變。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0B054-DC43-4630-ADA7-1386094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評估與訓練的影響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E0BED-19BF-4742-A85E-7993319F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部署前擴展測試 43/43 跑滿，續訓後在 22400 通過 Stage 5，進入完整風擾。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C3D6F-88DC-4DA3-B50E-56CEDCB6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仍存在的限制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E60A3-D52B-41D7-9A16-C155AC2B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Stage 6 的 reward 明顯降低且持續波動，末端修正尚未處理完整風擾下所有問題。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Stage 6: Path Progress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327921A4-25C4-3DB4-06B1-32693CEE2241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F8387-426B-4D17-9108-574DD9DA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原環境結果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147B6-2B46-47A2-A585-9B5E360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固定 Agent31600，在完整風擾既有 10 組情境中，6 組跑滿。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5B1E0-7DFF-4951-B681-6528A6FA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單一修正仍不足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DDE1B-64B9-499A-9C32-54F61005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排除歷史路徑零列後仍為 6/10，剩餘失敗包含真實偏離與路段更新時機。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EB229-EB19-4B5E-881E-87C249CD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後續方向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C65CC-E810-4570-9B5F-3AE44F2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任務改為空間循跡，允許依飛機實際進度提前提供連續下一段。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Fork at 31600: Spatial Progress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EA83FA91-883A-0168-8075-96CEB9DCA3C2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3B67F-4454-471E-A153-27E09A45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修改內容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79BC0-BF2A-4BF9-9772-E2B2D7C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限制有效歷史路徑範圍，依飛機進度更新路段，接近段尾時提前提供連續下一段。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F03D2-4E32-4143-9530-4888A7DB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固定模型評估的影響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97833-BA12-40A1-84C4-3E0B9717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Stage 6 既有 10/10、新情境 20/20 跑滿。小風 10/10，前三階段各 1 次也跑滿。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B63CE-036E-44CD-BB0A-20D77042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曲線與目前判讀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A8A7-839D-4E3E-8E65-0CC0E16B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平均 reward 在接續點附近由約 2000 提高至約 2600，最新為 2498.15，近期略有回落。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Evidence and Remaining Limits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C9C7607-4BA3-B4DC-A00F-2E67A9FCFF7E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0508A-C77B-4F95-A9A7-8C8D9096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目前證據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6163A-12BA-4B42-8399-2B9A5441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正式空間循跡環境下，固定 Agent31600 的 43 個不同測試組合皆跑滿 3000 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B900A-40C1-4B67-AB96-440CD917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尚待驗證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45ECC-0A45-4F09-89A9-EAD3BC14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最新 checkpoint 的各階段與新情境評估，以及新 agent 從第一階段訓練的收斂。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10999-B80C-41A8-9795-B9D22D50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版本判讀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8C05E-34D2-42FB-BA89-D58DF24E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環境幾何與路段更新邏輯曾修改，歷史 reward 不能全視為同一環境的學習曲線。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Future Automatic Strategy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90F7333B-44AC-F7E9-D49D-FE92F45E0477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C869F-FCE9-4048-99D2-AA0E57E9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觸發檢查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D22B5-DFB6-4E73-A62E-85AA123C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表現持續下降時保存狀態，進行固定情境評估，區分學習退步與環境問題。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BD122-D992-4733-A5B2-F1683DD3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依診斷處置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FC468-6A44-42B9-A543-D96A7BC0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依目前認識到的條件選擇暫停、恢復分支或調整策略，再比較前後效果。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A4D36-E660-4953-8374-AE382D6D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處置的限制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73E0C-011F-4FC5-9E01-2009EFC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規則來自有限情境，仍可能漏判或誤判。先累積證據，逐步縮小人工介入。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EEEAE53-3812-44A9-B874-EEEAC471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52425"/>
            <a:ext cx="8229600" cy="590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Future Algorithm Comparison</a:t>
            </a: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4335E0C-F022-4A53-B15D-DBEF23112A7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B1C6C81E-38B9-7560-621D-5A151A79DF9B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</a:t>
            </a:fld>
            <a:endParaRPr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1582B-863D-42CE-8482-864818C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目前基準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DEA83-8410-40B2-8B95-D231900A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以 PPO 與 LSTM 累積不同情境下的訓練與診斷經驗。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43491-E577-4733-BEC4-D6DF073D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未來比較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BBB6B-F86D-432E-B074-55BEC9B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8615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在一致環境與評估情境下，研究其他訓練方法各自需要注意的問題。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93761-F3EF-4C43-87A0-90DCC163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6247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1F4E79"/>
                </a:solidFill>
                <a:latin typeface="標楷體"/>
                <a:ea typeface="標楷體"/>
                <a:cs typeface="標楷體"/>
              </a:rPr>
              <a:t>從頭驗證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EDA24-5DA9-4FA0-A1B1-4BD3D83C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78867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固定目前正式環境，另建新 run 與新 agent，自第一階段重跑完整課程。</a:t>
            </a:r>
          </a:p>
        </p:txBody>
      </p:sp>
    </p:spTree>
    <p:extLst>
      <p:ext uri="{BB962C8B-B14F-4D97-AF65-F5344CB8AC3E}">
        <p14:creationId xmlns:p14="http://schemas.microsoft.com/office/powerpoint/2010/main" val="900728470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標題 1">
            <a:extLst>
              <a:ext uri="{FF2B5EF4-FFF2-40B4-BE49-F238E27FC236}">
                <ns2:creationId id="{4EEEAE53-3812-44A9-B874-EEEAC4717FF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352425"/>
            <a:ext cx="8229600" cy="590550"/>
          </a:xfrm>
        </p:spPr>
        <p:txBody>
          <a:bodyPr>
            <a:noAutofit/>
          </a:bodyPr>
          <a:lstStyle>
            <a:defPPr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buNone/>
              <a:def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Offline System Demonstration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ns2:creationId id="{A4335E0C-F022-4A53-B15D-DBEF23112A79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defPPr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buNone/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CCF91274-D221-1BB4-3BF9-836E3AD31EBE}" type="slidenum"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</a:t>
            </a:fld>
            <a:endParaRPr/>
          </a:p>
        </p:txBody>
      </p:sp>
      <p:pic>
        <p:nvPicPr>
          <p:cNvPr id="5" name="">
            <a:extLst>
              <a:ext uri="{FF2B5EF4-FFF2-40B4-BE49-F238E27FC236}">
                <ns2:creationId id="{D3CC60D3-B72D-4F00-8D7C-B9D9EE2B49DF}"/>
              </a:ext>
            </a:extLst>
          </p:cNvPr>
          <p:cNvPicPr>
            <a:picLocks noChangeAspect="1"/>
          </p:cNvPicPr>
          <p:nvPr/>
        </p:nvPicPr>
        <p:blipFill>
          <a:blip r:embed="R12c5c4180bce4b48"/>
          <a:stretch/>
        </p:blipFill>
        <p:spPr>
          <a:xfrm>
            <a:off x="1343025" y="1257300"/>
            <a:ext cx="6477000" cy="4048125"/>
          </a:xfrm>
          <a:prstGeom prst="rect">
            <a:avLst/>
          </a:prstGeom>
        </p:spPr>
      </p:pic>
      <p:sp>
        <p:nvSpPr>
          <p:cNvPr id="6" name="offline-training-link">
            <a:extLst>
              <a:ext uri="{FF2B5EF4-FFF2-40B4-BE49-F238E27FC236}">
                <ns2:creationId id="{311DAB3A-526A-471A-BB80-B19BBFC629AF}"/>
              </a:ext>
            </a:extLst>
          </p:cNvPr>
          <p:cNvSpPr>
            <a:spLocks noGrp="1"/>
          </p:cNvSpPr>
          <p:nvPr/>
        </p:nvSpPr>
        <p:spPr>
          <a:xfrm>
            <a:off x="638175" y="5419725"/>
            <a:ext cx="78867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>
              <a:defRPr sz="1875" b="1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1875" b="1">
                <a:solidFill>
                  <a:srgbClr val="1F4E79"/>
                </a:solidFill>
                <a:latin typeface="標楷體"/>
                <a:ea typeface="標楷體"/>
                <a:cs typeface="標楷體"/>
                <a:hlinkClick r:id="rIdOffline4"/>
              </a:rPr>
              <a:t>開啟離線訓練流程與程式原文</a:t>
            </a:r>
          </a:p>
        </p:txBody>
      </p:sp>
      <p:sp>
        <p:nvSpPr>
          <p:cNvPr id="7" name="offline-architecture-link">
            <a:extLst>
              <a:ext uri="{FF2B5EF4-FFF2-40B4-BE49-F238E27FC236}">
                <ns2:creationId id="{B52A125D-E027-4733-B9B1-8FC406CB707D}"/>
              </a:ext>
            </a:extLst>
          </p:cNvPr>
          <p:cNvSpPr>
            <a:spLocks noGrp="1"/>
          </p:cNvSpPr>
          <p:nvPr/>
        </p:nvSpPr>
        <p:spPr>
          <a:xfrm>
            <a:off x="638175" y="5781675"/>
            <a:ext cx="78867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defPPr>
          </a:lstStyle>
          <a:p>
            <a:pPr>
              <a:defRPr sz="1800" b="0">
                <a:solidFill>
                  <a:srgbClr val="1F4E79"/>
                </a:solidFill>
                <a:latin typeface="標楷體"/>
                <a:ea typeface="標楷體"/>
                <a:cs typeface="標楷體"/>
              </a:defRPr>
            </a:pPr>
            <a:r>
              <a:rPr sz="1800" b="0">
                <a:solidFill>
                  <a:srgbClr val="1F4E79"/>
                </a:solidFill>
                <a:latin typeface="標楷體"/>
                <a:ea typeface="標楷體"/>
                <a:cs typeface="標楷體"/>
                <a:hlinkClick r:id="rIdOffline5"/>
              </a:rPr>
              <a:t>開啟離線系統架構圖</a:t>
            </a:r>
          </a:p>
        </p:txBody>
      </p:sp>
    </p:spTree>
    <p:extLst>
      <p:ext uri="{BB962C8B-B14F-4D97-AF65-F5344CB8AC3E}">
        <ns4:creationId val="900728470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2026-10-14T01:51:35.7580000Z</dcterms:created>
  <dcterms:modified xsi:type="dcterms:W3CDTF">2026-10-14T01:51:35.7580000Z</dcterms:modified>
</coreProperties>
</file>